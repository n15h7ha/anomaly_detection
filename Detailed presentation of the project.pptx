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DBE4E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DBE4EE"/>
                </a:solidFill>
                <a:latin typeface="Arial"/>
              </a:rPr>
              <a:t>Detection performance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E0A45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ROC-AUC</c:v>
                  </c:pt>
                  <c:pt idx="1">
                    <c:v>Precision@5%</c:v>
                  </c:pt>
                  <c:pt idx="2">
                    <c:v>Recall@5%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94.3</c:v>
                </c:pt>
                <c:pt idx="1">
                  <c:v>54.8</c:v>
                </c:pt>
                <c:pt idx="2">
                  <c:v>76.6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F8EA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232C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F8EA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2926080" cy="4114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80160" cy="41148"/>
          </a:xfrm>
          <a:prstGeom prst="rect">
            <a:avLst/>
          </a:prstGeom>
          <a:solidFill>
            <a:srgbClr val="232C3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0"/>
            <a:ext cx="1920240" cy="41148"/>
          </a:xfrm>
          <a:prstGeom prst="rect">
            <a:avLst/>
          </a:prstGeom>
          <a:solidFill>
            <a:srgbClr val="232C3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828800"/>
            <a:ext cx="2926080" cy="41148"/>
          </a:xfrm>
          <a:prstGeom prst="rect">
            <a:avLst/>
          </a:prstGeom>
          <a:solidFill>
            <a:srgbClr val="232C3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2286000"/>
            <a:ext cx="1920240" cy="41148"/>
          </a:xfrm>
          <a:prstGeom prst="rect">
            <a:avLst/>
          </a:prstGeom>
          <a:solidFill>
            <a:srgbClr val="232C38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2743200"/>
            <a:ext cx="1280160" cy="4114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3200400"/>
            <a:ext cx="2926080" cy="41148"/>
          </a:xfrm>
          <a:prstGeom prst="rect">
            <a:avLst/>
          </a:prstGeom>
          <a:solidFill>
            <a:srgbClr val="232C38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3657600"/>
            <a:ext cx="1280160" cy="41148"/>
          </a:xfrm>
          <a:prstGeom prst="rect">
            <a:avLst/>
          </a:prstGeom>
          <a:solidFill>
            <a:srgbClr val="232C38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114800"/>
            <a:ext cx="1920240" cy="41148"/>
          </a:xfrm>
          <a:prstGeom prst="rect">
            <a:avLst/>
          </a:prstGeom>
          <a:solidFill>
            <a:srgbClr val="232C38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572000"/>
            <a:ext cx="2926080" cy="41148"/>
          </a:xfrm>
          <a:prstGeom prst="rect">
            <a:avLst/>
          </a:prstGeom>
          <a:solidFill>
            <a:srgbClr val="232C38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029200"/>
            <a:ext cx="1920240" cy="4114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486400"/>
            <a:ext cx="1280160" cy="41148"/>
          </a:xfrm>
          <a:prstGeom prst="rect">
            <a:avLst/>
          </a:prstGeom>
          <a:solidFill>
            <a:srgbClr val="232C38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943600"/>
            <a:ext cx="2926080" cy="41148"/>
          </a:xfrm>
          <a:prstGeom prst="rect">
            <a:avLst/>
          </a:prstGeom>
          <a:solidFill>
            <a:srgbClr val="232C38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6400800"/>
            <a:ext cx="1280160" cy="41148"/>
          </a:xfrm>
          <a:prstGeom prst="rect">
            <a:avLst/>
          </a:prstGeom>
          <a:solidFill>
            <a:srgbClr val="232C38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C1117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9659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ANOMALY DETECTION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6766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Behavioral Anomaly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for Cybersecurity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4846320" y="4160520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“normal” access behavior to catch credential misuse, lateral movement, and slow, low-and-slow intrusions — with an explainable risk score for every alert.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846320" y="5257800"/>
            <a:ext cx="1097280" cy="0"/>
          </a:xfrm>
          <a:prstGeom prst="line">
            <a:avLst/>
          </a:prstGeom>
          <a:noFill/>
          <a:ln w="25400">
            <a:solidFill>
              <a:srgbClr val="E0A4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54406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Nishtha Soni  •  Synthetic-Data Prototype  •  Domain-Agnostic: IT / OT / Edge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 rules miss what they've never seen before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31A23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B2530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access leaves a trail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timing, geo, resource, auth method, session length, command sequence — a behavioral fingerprint exists for every user, service account, and device.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31A23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1488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B2530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Signatures only catch known threats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17720" y="361188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rules and malware hashes fail against novel or slow, low-and-slow intrusions that never trip a known pattern.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31A23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148840"/>
            <a:ext cx="502920" cy="502920"/>
          </a:xfrm>
          <a:prstGeom prst="roundRect">
            <a:avLst>
              <a:gd name="adj" fmla="val 90909"/>
            </a:avLst>
          </a:prstGeom>
          <a:solidFill>
            <a:srgbClr val="1B2530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28346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is domain-agnostic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412480" y="361188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sequence-anomaly task protects a cloud server, a factory edge gateway, a POS terminal, or a home IoT hub.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model normal access + connection behavior per entity, detect intrusions in near real time, classify the anomaly type, and explain the risk score to a SOC analyst.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constraints, four concrete design 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31A23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54864" cy="105156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02536"/>
            <a:ext cx="3657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data, not snapshots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754880" y="2002536"/>
            <a:ext cx="6675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is computed against each entity's running history up to (not including) the current event.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F151D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63240"/>
            <a:ext cx="54864" cy="105156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191256"/>
            <a:ext cx="3657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 class imbalance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54880" y="3191256"/>
            <a:ext cx="6675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~3.6% of events are anomalous. Detector is trained unsupervised; classifier uses class-balanced subsampling.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31A23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251960"/>
            <a:ext cx="54864" cy="105156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79976"/>
            <a:ext cx="3657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drift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754880" y="4379976"/>
            <a:ext cx="6675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Per-entity baselines are running statistics that reshape as behavior legitimately evolves — not a fixed profile.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F151D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440680"/>
            <a:ext cx="54864" cy="105156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568696"/>
            <a:ext cx="36576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start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754880" y="5568696"/>
            <a:ext cx="667512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with &lt;5 prior events fall back to a population-level prior for their entity type, flagged explicitly.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Five-stage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31A23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523744"/>
            <a:ext cx="420624" cy="420624"/>
          </a:xfrm>
          <a:prstGeom prst="roundRect">
            <a:avLst>
              <a:gd name="adj" fmla="val 108696"/>
            </a:avLst>
          </a:prstGeom>
          <a:solidFill>
            <a:srgbClr val="5FBF8F">
              <a:alpha val="12000"/>
            </a:srgbClr>
          </a:solidFill>
          <a:ln w="15875">
            <a:solidFill>
              <a:srgbClr val="5FBF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2651760"/>
            <a:ext cx="164592" cy="164592"/>
          </a:xfrm>
          <a:prstGeom prst="oval">
            <a:avLst/>
          </a:prstGeom>
          <a:solidFill>
            <a:srgbClr val="5FBF8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108960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3703320"/>
            <a:ext cx="16367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Access-log events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hidden ground truth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14600" y="2971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637A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31A23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5808" y="2523744"/>
            <a:ext cx="420624" cy="420624"/>
          </a:xfrm>
          <a:prstGeom prst="roundRect">
            <a:avLst>
              <a:gd name="adj" fmla="val 108696"/>
            </a:avLst>
          </a:prstGeom>
          <a:solidFill>
            <a:srgbClr val="5B9BD5">
              <a:alpha val="12000"/>
            </a:srgbClr>
          </a:solidFill>
          <a:ln w="15875">
            <a:solidFill>
              <a:srgbClr val="5B9B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63824" y="2651760"/>
            <a:ext cx="164592" cy="164592"/>
          </a:xfrm>
          <a:prstGeom prst="oval">
            <a:avLst/>
          </a:prstGeom>
          <a:solidFill>
            <a:srgbClr val="5B9BD5"/>
          </a:solidFill>
          <a:ln/>
        </p:spPr>
      </p:sp>
      <p:sp>
        <p:nvSpPr>
          <p:cNvPr id="13" name="Text 11"/>
          <p:cNvSpPr/>
          <p:nvPr/>
        </p:nvSpPr>
        <p:spPr>
          <a:xfrm>
            <a:off x="2999232" y="3108960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99232" y="3703320"/>
            <a:ext cx="16367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Per-entity deviation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over time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2971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637A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20640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31A23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21808" y="2523744"/>
            <a:ext cx="420624" cy="420624"/>
          </a:xfrm>
          <a:prstGeom prst="roundRect">
            <a:avLst>
              <a:gd name="adj" fmla="val 108696"/>
            </a:avLst>
          </a:prstGeom>
          <a:solidFill>
            <a:srgbClr val="9B7FD4">
              <a:alpha val="12000"/>
            </a:srgbClr>
          </a:solidFill>
          <a:ln w="15875">
            <a:solidFill>
              <a:srgbClr val="9B7F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9824" y="2651760"/>
            <a:ext cx="164592" cy="164592"/>
          </a:xfrm>
          <a:prstGeom prst="oval">
            <a:avLst/>
          </a:prstGeom>
          <a:solidFill>
            <a:srgbClr val="9B7FD4"/>
          </a:solidFill>
          <a:ln/>
        </p:spPr>
      </p:sp>
      <p:sp>
        <p:nvSpPr>
          <p:cNvPr id="19" name="Text 17"/>
          <p:cNvSpPr/>
          <p:nvPr/>
        </p:nvSpPr>
        <p:spPr>
          <a:xfrm>
            <a:off x="5285232" y="3108960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85232" y="3703320"/>
            <a:ext cx="16367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Entity-resource transition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(order-aware)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86600" y="2971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637A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06640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31A23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07808" y="2523744"/>
            <a:ext cx="420624" cy="420624"/>
          </a:xfrm>
          <a:prstGeom prst="roundRect">
            <a:avLst>
              <a:gd name="adj" fmla="val 108696"/>
            </a:avLst>
          </a:prstGeom>
          <a:solidFill>
            <a:srgbClr val="E0A458">
              <a:alpha val="12000"/>
            </a:srgbClr>
          </a:solidFill>
          <a:ln w="15875">
            <a:solidFill>
              <a:srgbClr val="E0A4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35824" y="2651760"/>
            <a:ext cx="164592" cy="164592"/>
          </a:xfrm>
          <a:prstGeom prst="oval">
            <a:avLst/>
          </a:prstGeom>
          <a:solidFill>
            <a:srgbClr val="E0A458"/>
          </a:solidFill>
          <a:ln/>
        </p:spPr>
      </p:sp>
      <p:sp>
        <p:nvSpPr>
          <p:cNvPr id="25" name="Text 23"/>
          <p:cNvSpPr/>
          <p:nvPr/>
        </p:nvSpPr>
        <p:spPr>
          <a:xfrm>
            <a:off x="7571232" y="3108960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71232" y="3703320"/>
            <a:ext cx="16367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0–100 risk score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72600" y="29718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6637A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92640" y="228600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31A23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93808" y="2523744"/>
            <a:ext cx="420624" cy="420624"/>
          </a:xfrm>
          <a:prstGeom prst="roundRect">
            <a:avLst>
              <a:gd name="adj" fmla="val 108696"/>
            </a:avLst>
          </a:prstGeom>
          <a:solidFill>
            <a:srgbClr val="D9636A">
              <a:alpha val="12000"/>
            </a:srgbClr>
          </a:solidFill>
          <a:ln w="15875">
            <a:solidFill>
              <a:srgbClr val="D963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21824" y="2651760"/>
            <a:ext cx="164592" cy="164592"/>
          </a:xfrm>
          <a:prstGeom prst="oval">
            <a:avLst/>
          </a:prstGeom>
          <a:solidFill>
            <a:srgbClr val="D9636A"/>
          </a:solidFill>
          <a:ln/>
        </p:spPr>
      </p:sp>
      <p:sp>
        <p:nvSpPr>
          <p:cNvPr id="31" name="Text 29"/>
          <p:cNvSpPr/>
          <p:nvPr/>
        </p:nvSpPr>
        <p:spPr>
          <a:xfrm>
            <a:off x="9857232" y="3108960"/>
            <a:ext cx="16367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+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857232" y="3703320"/>
            <a:ext cx="16367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category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SHAP attribution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8920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alert's risk score, category, and “why” flow into the analyst dashboard shown later in this deck.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access-log generator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intrusion logs are scarce, outdated, privacy-restricted, or shaped differently per domain — so the project builds and documents its own labeled corpus.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F151D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45,580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generated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21488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F151D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22402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(user / svc / device)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21488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F151D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22402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7220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window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778240" y="214884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F151D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2240280"/>
            <a:ext cx="2606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1540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anomalous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795528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29184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approach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failed auths, one source 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movement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Burst of never-touched resources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Insider drift (edge case)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Slowly widening footprint, 14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 travel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&gt;3,000km jump within 5–90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Low-and-slow exfil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Off-hours access over 10 days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spoofing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device_id, mismatched fingerprint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 stuffing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entities, 1–2 source IPs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8732520" y="35204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assumptions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732520" y="3931920"/>
            <a:ext cx="2880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Per-entity Zipf-like resource use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home geo + 0–2 usual secondary geos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resources → longer sessions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15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rates: 0.5–3% of sessions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Per-entity baseline profile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31A23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“normal” means for one entity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mean/std of login hour — flags off-hours access relative to THIS entity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mean/std of session duration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set of resources ever touched — flags first-time access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of device fingerprints ever seen — flags spoofing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after every event, using only prior history (no leakage)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0F151D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03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Cold-start strategy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than 5 prior events → entity's own profile isn't trustworthy yet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population-level prior for that entity_type (user / service_account / edge_device)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carries a cold_start flag so analysts can weight it appropriately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3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two failure modes: silence on new entities, or false alarms from an empty history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model — unsupervised, sequence-aware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IsolationForest (300 trees) over 14 deviation features PLUS a graph-based entity-resource transition score — trained without ever seeing the label column.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65836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Per-entity resource-transition graph scores the ORDER of actions (Katz backoff to a population graph for cold start) — the brief's own "graph-based" sequence option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sequence models (LSTM/GRU) skipped deliberately: &lt;1,700 anomalies would overfit a model trained from scratch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rescaled to a 0–100 risk score for the dashboard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3931920"/>
          <a:ext cx="65836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1508760"/>
            <a:ext cx="4206240" cy="4892040"/>
          </a:xfrm>
          <a:prstGeom prst="roundRect">
            <a:avLst>
              <a:gd name="adj" fmla="val 1739"/>
            </a:avLst>
          </a:prstGeom>
          <a:solidFill>
            <a:srgbClr val="0F151D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@ top-5% threshold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2194560"/>
          <a:ext cx="3657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1143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flagged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42,919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772400" y="39776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2,279 of 45,580 events flagged for review (top 5%) — catches 77% of true anomalies at roughly 1.2 true positives per false positive.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anomalous — which kind of anomaly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 (400 trees, class-balanced) predicts the attack category. Reported in full, including the two weak categories — not just the strong ones.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73152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34440"/>
                <a:gridCol w="1234440"/>
                <a:gridCol w="1051560"/>
                <a:gridCol w="14173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5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brute_force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credential_stuffing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device_spoofing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lateral_movement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low_and_slow_exfil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5FB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impossible_travel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E0A45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9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9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1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insider_drift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9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9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963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DBE4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210312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0F151D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23317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96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two fall short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58200" y="2788920"/>
            <a:ext cx="2926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insider_drift was generated as the brief's own ambiguous edge case — it's meant to look close to normal, so weak separation is the expected result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–"/>
            </a:pPr>
            <a:r>
              <a:rPr lang="en-US" sz="12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impossible_travel has only 72 examples total (18 in test) and can resemble credential stuffing at the feature level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— why, not just a score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 over the RandomForest attributes each alert's predicted category to its top contributing features, translated into analyst-facing phrases.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31A23"/>
          </a:solidFill>
          <a:ln w="12700">
            <a:solidFill>
              <a:srgbClr val="5FBF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3520440" cy="54864"/>
          </a:xfrm>
          <a:prstGeom prst="rect">
            <a:avLst/>
          </a:prstGeom>
          <a:solidFill>
            <a:srgbClr val="5FBF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spoofing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fingerprint_mismatch  +0.47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from a single dominant signal.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31A23"/>
          </a:solidFill>
          <a:ln w="12700">
            <a:solidFill>
              <a:srgbClr val="5FBF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286000"/>
            <a:ext cx="3520440" cy="54864"/>
          </a:xfrm>
          <a:prstGeom prst="rect">
            <a:avLst/>
          </a:prstGeom>
          <a:solidFill>
            <a:srgbClr val="5FBF8F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560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Lateral movement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1546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n_commands, is_new_resource,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time_since_last_s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4617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of first-time resource access, consistent with the label.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31A23"/>
          </a:solidFill>
          <a:ln w="12700">
            <a:solidFill>
              <a:srgbClr val="D963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286000"/>
            <a:ext cx="3520440" cy="54864"/>
          </a:xfrm>
          <a:prstGeom prst="rect">
            <a:avLst/>
          </a:prstGeom>
          <a:solidFill>
            <a:srgbClr val="D9636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560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Insider drift (missed)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15468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6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session_duration_min  +0.10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6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(weak, non-specific)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12480" y="4617720"/>
            <a:ext cx="2971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Illustrates the ambiguity discussed on the previous slide.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console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315200" cy="4572000"/>
          </a:xfrm>
          <a:prstGeom prst="roundRect">
            <a:avLst>
              <a:gd name="adj" fmla="val 1600"/>
            </a:avLst>
          </a:prstGeom>
          <a:solidFill>
            <a:srgbClr val="0F151D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Alert Queue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9456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103120"/>
                <a:gridCol w="192024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66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66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66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663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Contributing factors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82.4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user::rjain_9f2c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9B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brute_force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failures, event burst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77.1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dev::sensor_7ce8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9B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device_spoofing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fingerprint mismatch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69.8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svc::batch_c067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9B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lateral_movement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resource, broad footprint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0A45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58.3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user::mkapoor_1ab2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9BD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impossible_travel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F8E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geo-velocity, new device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2C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38160" y="160020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131A23"/>
          </a:solidFill>
          <a:ln w="12700">
            <a:solidFill>
              <a:srgbClr val="232C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analyst sees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458200" y="2286000"/>
            <a:ext cx="2926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queue by risk score, filterable by predicted category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SHAP contributing-factor chips per alert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context: source IP, geo, resource, auth method, device</a:t>
            </a:r>
            <a:endParaRPr lang="en-US" sz="120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20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history timeline — what “normal” looked like before this alert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0040" cy="320040"/>
          </a:xfrm>
          <a:prstGeom prst="roundRect">
            <a:avLst>
              <a:gd name="adj" fmla="val 142857"/>
            </a:avLst>
          </a:prstGeom>
          <a:solidFill>
            <a:srgbClr val="D9636A">
              <a:alpha val="12000"/>
            </a:srgbClr>
          </a:solidFill>
          <a:ln w="12700">
            <a:solidFill>
              <a:srgbClr val="D963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84708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Synthetic-data ceiling — rule-based attacks are more learnable than real adversarial behavior; real precision/recall would likely be lower.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20040" cy="320040"/>
          </a:xfrm>
          <a:prstGeom prst="roundRect">
            <a:avLst>
              <a:gd name="adj" fmla="val 142857"/>
            </a:avLst>
          </a:prstGeom>
          <a:solidFill>
            <a:srgbClr val="D9636A">
              <a:alpha val="12000"/>
            </a:srgbClr>
          </a:solidFill>
          <a:ln w="12700">
            <a:solidFill>
              <a:srgbClr val="D963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670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insider_drift and impossible_travel classification is weak — needs more data or dedicated features, not hidden in this report.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320040" cy="320040"/>
          </a:xfrm>
          <a:prstGeom prst="roundRect">
            <a:avLst>
              <a:gd name="adj" fmla="val 142857"/>
            </a:avLst>
          </a:prstGeom>
          <a:solidFill>
            <a:srgbClr val="D9636A">
              <a:alpha val="12000"/>
            </a:srgbClr>
          </a:solidFill>
          <a:ln w="12700">
            <a:solidFill>
              <a:srgbClr val="D96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66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349300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learned sequence encoder (GRU/Transformer) — hand-built deviation features were the deliberate choice for this data size.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320040" cy="320040"/>
          </a:xfrm>
          <a:prstGeom prst="roundRect">
            <a:avLst>
              <a:gd name="adj" fmla="val 142857"/>
            </a:avLst>
          </a:prstGeom>
          <a:solidFill>
            <a:srgbClr val="D9636A">
              <a:alpha val="12000"/>
            </a:srgbClr>
          </a:solidFill>
          <a:ln w="12700">
            <a:solidFill>
              <a:srgbClr val="D963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431596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 is only partially handled — running baselines adapt, but there's no explicit drift-detection trigger.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12080"/>
            <a:ext cx="320040" cy="320040"/>
          </a:xfrm>
          <a:prstGeom prst="roundRect">
            <a:avLst>
              <a:gd name="adj" fmla="val 142857"/>
            </a:avLst>
          </a:prstGeom>
          <a:solidFill>
            <a:srgbClr val="D9636A">
              <a:alpha val="12000"/>
            </a:srgbClr>
          </a:solidFill>
          <a:ln w="12700">
            <a:solidFill>
              <a:srgbClr val="D963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12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513892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B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Batch, not streaming — features are computed over the full log in one pass; production needs an online version.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six deliverables, built end-to-end,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evaluated on real numbers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ROC-AUC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337560" y="3291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33756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categories classified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26480" y="3291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2648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accuracy (weighted)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915400" y="32918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0A4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915400" y="3977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F8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alerts carry a SHAP reason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→ baseline profiler → unsupervised detector → classifier → SHAP explainability → analyst dashboard — every number in this deck comes from an actual run of the included code.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2026-07-26T10:32:07Z</dcterms:created>
  <dcterms:modified xsi:type="dcterms:W3CDTF">2026-07-26T10:32:07Z</dcterms:modified>
</cp:coreProperties>
</file>